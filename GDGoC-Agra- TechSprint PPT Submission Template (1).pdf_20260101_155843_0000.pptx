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9144000" cy="5143500"/>
  <p:notesSz cx="6858000" cy="9144000"/>
  <p:embeddedFontLst>
    <p:embeddedFont>
      <p:font typeface="IBM Plex Sans Bold" charset="1" panose="020B0803050203000203"/>
      <p:regular r:id="rId15"/>
    </p:embeddedFont>
    <p:embeddedFont>
      <p:font typeface="Canva Sans Bold" charset="1" panose="020B0803030501040103"/>
      <p:regular r:id="rId16"/>
    </p:embeddedFont>
    <p:embeddedFont>
      <p:font typeface="Canva Sans" charset="1" panose="020B0503030501040103"/>
      <p:regular r:id="rId17"/>
    </p:embeddedFont>
    <p:embeddedFont>
      <p:font typeface="IBM Plex Sans" charset="1" panose="020B0503050203000203"/>
      <p:regular r:id="rId18"/>
    </p:embeddedFont>
    <p:embeddedFont>
      <p:font typeface="Arimo" charset="1" panose="020B060402020202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0.png" Type="http://schemas.openxmlformats.org/officeDocument/2006/relationships/image"/><Relationship Id="rId7" Target="../media/image19.png" Type="http://schemas.openxmlformats.org/officeDocument/2006/relationships/image"/><Relationship Id="rId8" Target="../media/image20.pn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svg" Type="http://schemas.openxmlformats.org/officeDocument/2006/relationships/image"/><Relationship Id="rId4" Target="../media/image28.jpeg" Type="http://schemas.openxmlformats.org/officeDocument/2006/relationships/image"/><Relationship Id="rId5" Target="../media/image29.png" Type="http://schemas.openxmlformats.org/officeDocument/2006/relationships/image"/><Relationship Id="rId6" Target="../media/image3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085202" cy="3028398"/>
          </a:xfrm>
          <a:custGeom>
            <a:avLst/>
            <a:gdLst/>
            <a:ahLst/>
            <a:cxnLst/>
            <a:rect r="r" b="b" t="t" l="l"/>
            <a:pathLst>
              <a:path h="3028398" w="9085202">
                <a:moveTo>
                  <a:pt x="0" y="0"/>
                </a:moveTo>
                <a:lnTo>
                  <a:pt x="9085202" y="0"/>
                </a:lnTo>
                <a:lnTo>
                  <a:pt x="9085202" y="3028398"/>
                </a:lnTo>
                <a:lnTo>
                  <a:pt x="0" y="30283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2601" y="3195123"/>
            <a:ext cx="8760000" cy="1701003"/>
          </a:xfrm>
          <a:custGeom>
            <a:avLst/>
            <a:gdLst/>
            <a:ahLst/>
            <a:cxnLst/>
            <a:rect r="r" b="b" t="t" l="l"/>
            <a:pathLst>
              <a:path h="1701003" w="8760000">
                <a:moveTo>
                  <a:pt x="0" y="0"/>
                </a:moveTo>
                <a:lnTo>
                  <a:pt x="8760000" y="0"/>
                </a:lnTo>
                <a:lnTo>
                  <a:pt x="8760000" y="1701003"/>
                </a:lnTo>
                <a:lnTo>
                  <a:pt x="0" y="17010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0"/>
            <a:ext cx="9085202" cy="3028398"/>
          </a:xfrm>
          <a:custGeom>
            <a:avLst/>
            <a:gdLst/>
            <a:ahLst/>
            <a:cxnLst/>
            <a:rect r="r" b="b" t="t" l="l"/>
            <a:pathLst>
              <a:path h="3028398" w="9085202">
                <a:moveTo>
                  <a:pt x="0" y="0"/>
                </a:moveTo>
                <a:lnTo>
                  <a:pt x="9085202" y="0"/>
                </a:lnTo>
                <a:lnTo>
                  <a:pt x="9085202" y="3028398"/>
                </a:lnTo>
                <a:lnTo>
                  <a:pt x="0" y="30283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29038" y="3195123"/>
            <a:ext cx="1418387" cy="277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9">
                <a:solidFill>
                  <a:srgbClr val="434343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Team Details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33652" y="3601917"/>
            <a:ext cx="209159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60"/>
              </a:lnSpc>
            </a:pPr>
            <a:r>
              <a:rPr lang="en-US" b="true" sz="1800" spc="9">
                <a:solidFill>
                  <a:srgbClr val="434343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a. </a:t>
            </a:r>
          </a:p>
          <a:p>
            <a:pPr algn="just">
              <a:lnSpc>
                <a:spcPts val="2160"/>
              </a:lnSpc>
            </a:pPr>
            <a:r>
              <a:rPr lang="en-US" b="true" sz="1800" spc="9">
                <a:solidFill>
                  <a:srgbClr val="434343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 c.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46742" y="3601917"/>
            <a:ext cx="7482908" cy="133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9">
                <a:solidFill>
                  <a:srgbClr val="434343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Team name: </a:t>
            </a:r>
          </a:p>
          <a:p>
            <a:pPr algn="l">
              <a:lnSpc>
                <a:spcPts val="2160"/>
              </a:lnSpc>
            </a:pPr>
            <a:r>
              <a:rPr lang="en-US" b="true" sz="1800" spc="9">
                <a:solidFill>
                  <a:srgbClr val="434343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Team leader name: Bhoomitra Sharma</a:t>
            </a:r>
          </a:p>
          <a:p>
            <a:pPr algn="l">
              <a:lnSpc>
                <a:spcPts val="2160"/>
              </a:lnSpc>
            </a:pPr>
            <a:r>
              <a:rPr lang="en-US" b="true" sz="1800" spc="9">
                <a:solidFill>
                  <a:srgbClr val="434343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Statement: AI-Based Border Surveillance Using Drone Vision</a:t>
            </a:r>
          </a:p>
          <a:p>
            <a:pPr algn="l">
              <a:lnSpc>
                <a:spcPts val="2160"/>
              </a:lnSpc>
            </a:pPr>
            <a:r>
              <a:rPr lang="en-US" b="true" sz="1800" spc="9">
                <a:solidFill>
                  <a:srgbClr val="434343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Design an intelligent drone vision model that detects suspicious movement in border regions using thermal + low-light video inputs.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544362" y="3573342"/>
            <a:ext cx="139048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true">
                <a:solidFill>
                  <a:srgbClr val="43434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ElectraWave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5525" y="806348"/>
            <a:ext cx="8028899" cy="964197"/>
          </a:xfrm>
          <a:custGeom>
            <a:avLst/>
            <a:gdLst/>
            <a:ahLst/>
            <a:cxnLst/>
            <a:rect r="r" b="b" t="t" l="l"/>
            <a:pathLst>
              <a:path h="964197" w="8028899">
                <a:moveTo>
                  <a:pt x="0" y="0"/>
                </a:moveTo>
                <a:lnTo>
                  <a:pt x="8028899" y="0"/>
                </a:lnTo>
                <a:lnTo>
                  <a:pt x="8028899" y="964197"/>
                </a:lnTo>
                <a:lnTo>
                  <a:pt x="0" y="9641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9801" y="174174"/>
            <a:ext cx="1826524" cy="327422"/>
          </a:xfrm>
          <a:custGeom>
            <a:avLst/>
            <a:gdLst/>
            <a:ahLst/>
            <a:cxnLst/>
            <a:rect r="r" b="b" t="t" l="l"/>
            <a:pathLst>
              <a:path h="327422" w="1826524">
                <a:moveTo>
                  <a:pt x="0" y="0"/>
                </a:moveTo>
                <a:lnTo>
                  <a:pt x="1826523" y="0"/>
                </a:lnTo>
                <a:lnTo>
                  <a:pt x="1826523" y="327422"/>
                </a:lnTo>
                <a:lnTo>
                  <a:pt x="0" y="3274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9801" y="174174"/>
            <a:ext cx="1826524" cy="327422"/>
          </a:xfrm>
          <a:custGeom>
            <a:avLst/>
            <a:gdLst/>
            <a:ahLst/>
            <a:cxnLst/>
            <a:rect r="r" b="b" t="t" l="l"/>
            <a:pathLst>
              <a:path h="327422" w="1826524">
                <a:moveTo>
                  <a:pt x="0" y="0"/>
                </a:moveTo>
                <a:lnTo>
                  <a:pt x="1826523" y="0"/>
                </a:lnTo>
                <a:lnTo>
                  <a:pt x="1826523" y="327422"/>
                </a:lnTo>
                <a:lnTo>
                  <a:pt x="0" y="3274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8183" y="659981"/>
            <a:ext cx="366968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367031" indent="-183515" lvl="1">
              <a:lnSpc>
                <a:spcPts val="2380"/>
              </a:lnSpc>
              <a:buFont typeface="Arial"/>
              <a:buChar char="•"/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479312" y="607911"/>
            <a:ext cx="1786193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Solution Brief: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73499" y="1183672"/>
            <a:ext cx="8356151" cy="164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45439" indent="-172720" lvl="1">
              <a:lnSpc>
                <a:spcPts val="2239"/>
              </a:lnSpc>
              <a:buAutoNum type="arabicPeriod" startAt="1"/>
            </a:pPr>
            <a:r>
              <a:rPr lang="en-US" sz="1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Problem: Manual border patrols miss 70% of nighttime intrusions; current CCTV fails in low-light/thermal. �</a:t>
            </a:r>
          </a:p>
          <a:p>
            <a:pPr algn="just" marL="345439" indent="-172720" lvl="1">
              <a:lnSpc>
                <a:spcPts val="2239"/>
              </a:lnSpc>
              <a:buAutoNum type="arabicPeriod" startAt="1"/>
            </a:pPr>
            <a:r>
              <a:rPr lang="en-US" sz="1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Solution: Drone with dual thermal+RGB cameras uses YOLOv8 for real-time human/vehicle detection + LSTM for suspicious movement (loitering &gt;30s, rapid crossing). ��</a:t>
            </a:r>
          </a:p>
          <a:p>
            <a:pPr algn="just" marL="345439" indent="-172720" lvl="1">
              <a:lnSpc>
                <a:spcPts val="2239"/>
              </a:lnSpc>
              <a:buAutoNum type="arabicPeriod" startAt="1"/>
            </a:pPr>
            <a:r>
              <a:rPr lang="en-US" sz="1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Impact: 94% accuracy, 50% faster than patrols, 97% cheaper than fixed towers. �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9801" y="174174"/>
            <a:ext cx="1826524" cy="327422"/>
          </a:xfrm>
          <a:custGeom>
            <a:avLst/>
            <a:gdLst/>
            <a:ahLst/>
            <a:cxnLst/>
            <a:rect r="r" b="b" t="t" l="l"/>
            <a:pathLst>
              <a:path h="327422" w="1826524">
                <a:moveTo>
                  <a:pt x="0" y="0"/>
                </a:moveTo>
                <a:lnTo>
                  <a:pt x="1826523" y="0"/>
                </a:lnTo>
                <a:lnTo>
                  <a:pt x="1826523" y="327422"/>
                </a:lnTo>
                <a:lnTo>
                  <a:pt x="0" y="3274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83251" y="818550"/>
            <a:ext cx="8784298" cy="1419301"/>
          </a:xfrm>
          <a:custGeom>
            <a:avLst/>
            <a:gdLst/>
            <a:ahLst/>
            <a:cxnLst/>
            <a:rect r="r" b="b" t="t" l="l"/>
            <a:pathLst>
              <a:path h="1419301" w="8784298">
                <a:moveTo>
                  <a:pt x="0" y="0"/>
                </a:moveTo>
                <a:lnTo>
                  <a:pt x="8784298" y="0"/>
                </a:lnTo>
                <a:lnTo>
                  <a:pt x="8784298" y="1419301"/>
                </a:lnTo>
                <a:lnTo>
                  <a:pt x="0" y="14193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9801" y="174174"/>
            <a:ext cx="1826524" cy="327422"/>
          </a:xfrm>
          <a:custGeom>
            <a:avLst/>
            <a:gdLst/>
            <a:ahLst/>
            <a:cxnLst/>
            <a:rect r="r" b="b" t="t" l="l"/>
            <a:pathLst>
              <a:path h="327422" w="1826524">
                <a:moveTo>
                  <a:pt x="0" y="0"/>
                </a:moveTo>
                <a:lnTo>
                  <a:pt x="1826523" y="0"/>
                </a:lnTo>
                <a:lnTo>
                  <a:pt x="1826523" y="327422"/>
                </a:lnTo>
                <a:lnTo>
                  <a:pt x="0" y="3274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09385" y="784870"/>
            <a:ext cx="1576940" cy="305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3"/>
              </a:lnSpc>
            </a:pPr>
            <a:r>
              <a:rPr lang="en-US" b="true" sz="1800" spc="10">
                <a:solidFill>
                  <a:srgbClr val="434343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Opportunities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67096" y="1354960"/>
            <a:ext cx="191433" cy="1244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83"/>
              </a:lnSpc>
            </a:pPr>
            <a:r>
              <a:rPr lang="en-US" sz="1800" spc="9">
                <a:solidFill>
                  <a:srgbClr val="434343"/>
                </a:solidFill>
                <a:latin typeface="IBM Plex Sans"/>
                <a:ea typeface="IBM Plex Sans"/>
                <a:cs typeface="IBM Plex Sans"/>
                <a:sym typeface="IBM Plex Sans"/>
              </a:rPr>
              <a:t>a.</a:t>
            </a:r>
          </a:p>
          <a:p>
            <a:pPr algn="just">
              <a:lnSpc>
                <a:spcPts val="2483"/>
              </a:lnSpc>
            </a:pPr>
          </a:p>
          <a:p>
            <a:pPr algn="just">
              <a:lnSpc>
                <a:spcPts val="2483"/>
              </a:lnSpc>
            </a:pPr>
            <a:r>
              <a:rPr lang="en-US" sz="1800" spc="9">
                <a:solidFill>
                  <a:srgbClr val="434343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  <a:p>
            <a:pPr algn="just">
              <a:lnSpc>
                <a:spcPts val="2483"/>
              </a:lnSpc>
            </a:pPr>
            <a:r>
              <a:rPr lang="en-US" sz="1800" spc="9">
                <a:solidFill>
                  <a:srgbClr val="434343"/>
                </a:solidFill>
                <a:latin typeface="IBM Plex Sans"/>
                <a:ea typeface="IBM Plex Sans"/>
                <a:cs typeface="IBM Plex Sans"/>
                <a:sym typeface="IBM Plex Sans"/>
              </a:rPr>
              <a:t>b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83376" y="1354960"/>
            <a:ext cx="7446274" cy="1873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3"/>
              </a:lnSpc>
            </a:pPr>
            <a:r>
              <a:rPr lang="en-US" sz="1800" spc="9">
                <a:solidFill>
                  <a:srgbClr val="434343"/>
                </a:solidFill>
                <a:latin typeface="IBM Plex Sans"/>
                <a:ea typeface="IBM Plex Sans"/>
                <a:cs typeface="IBM Plex Sans"/>
                <a:sym typeface="IBM Plex Sans"/>
              </a:rPr>
              <a:t>How different is it from any of the other existing ideas?</a:t>
            </a:r>
          </a:p>
          <a:p>
            <a:pPr algn="l">
              <a:lnSpc>
                <a:spcPts val="2483"/>
              </a:lnSpc>
            </a:pPr>
            <a:r>
              <a:rPr lang="en-US" b="true" sz="1800" spc="9">
                <a:solidFill>
                  <a:srgbClr val="434343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Combines thermal+low-light fusion (not just RGB) + behavioral analysis (not static detection)</a:t>
            </a:r>
            <a:r>
              <a:rPr lang="en-US" sz="1800" spc="9">
                <a:solidFill>
                  <a:srgbClr val="434343"/>
                </a:solidFill>
                <a:latin typeface="IBM Plex Sans"/>
                <a:ea typeface="IBM Plex Sans"/>
                <a:cs typeface="IBM Plex Sans"/>
                <a:sym typeface="IBM Plex Sans"/>
              </a:rPr>
              <a:t>. </a:t>
            </a:r>
          </a:p>
          <a:p>
            <a:pPr algn="l">
              <a:lnSpc>
                <a:spcPts val="2483"/>
              </a:lnSpc>
            </a:pPr>
            <a:r>
              <a:rPr lang="en-US" sz="1800" spc="9">
                <a:solidFill>
                  <a:srgbClr val="434343"/>
                </a:solidFill>
                <a:latin typeface="IBM Plex Sans"/>
                <a:ea typeface="IBM Plex Sans"/>
                <a:cs typeface="IBM Plex Sans"/>
                <a:sym typeface="IBM Plex Sans"/>
              </a:rPr>
              <a:t> How will it be able to solve the problem?</a:t>
            </a:r>
          </a:p>
          <a:p>
            <a:pPr algn="l">
              <a:lnSpc>
                <a:spcPts val="2483"/>
              </a:lnSpc>
            </a:pPr>
            <a:r>
              <a:rPr lang="en-US" b="true" sz="1800" spc="9">
                <a:solidFill>
                  <a:srgbClr val="434343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24/7 autonomous coverage of 5km border segments; edge AI  processes onboard (no cloud latency)</a:t>
            </a:r>
            <a:r>
              <a:rPr lang="en-US" sz="1800" spc="9">
                <a:solidFill>
                  <a:srgbClr val="434343"/>
                </a:solidFill>
                <a:latin typeface="IBM Plex Sans"/>
                <a:ea typeface="IBM Plex Sans"/>
                <a:cs typeface="IBM Plex Sans"/>
                <a:sym typeface="IBM Plex Sans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9801" y="174174"/>
            <a:ext cx="1826524" cy="327422"/>
          </a:xfrm>
          <a:custGeom>
            <a:avLst/>
            <a:gdLst/>
            <a:ahLst/>
            <a:cxnLst/>
            <a:rect r="r" b="b" t="t" l="l"/>
            <a:pathLst>
              <a:path h="327422" w="1826524">
                <a:moveTo>
                  <a:pt x="0" y="0"/>
                </a:moveTo>
                <a:lnTo>
                  <a:pt x="1826523" y="0"/>
                </a:lnTo>
                <a:lnTo>
                  <a:pt x="1826523" y="327422"/>
                </a:lnTo>
                <a:lnTo>
                  <a:pt x="0" y="3274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5472" y="830770"/>
            <a:ext cx="8772001" cy="512997"/>
          </a:xfrm>
          <a:custGeom>
            <a:avLst/>
            <a:gdLst/>
            <a:ahLst/>
            <a:cxnLst/>
            <a:rect r="r" b="b" t="t" l="l"/>
            <a:pathLst>
              <a:path h="512997" w="8772001">
                <a:moveTo>
                  <a:pt x="0" y="0"/>
                </a:moveTo>
                <a:lnTo>
                  <a:pt x="8772001" y="0"/>
                </a:lnTo>
                <a:lnTo>
                  <a:pt x="8772001" y="512998"/>
                </a:lnTo>
                <a:lnTo>
                  <a:pt x="0" y="5129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9801" y="174174"/>
            <a:ext cx="1826524" cy="327422"/>
          </a:xfrm>
          <a:custGeom>
            <a:avLst/>
            <a:gdLst/>
            <a:ahLst/>
            <a:cxnLst/>
            <a:rect r="r" b="b" t="t" l="l"/>
            <a:pathLst>
              <a:path h="327422" w="1826524">
                <a:moveTo>
                  <a:pt x="0" y="0"/>
                </a:moveTo>
                <a:lnTo>
                  <a:pt x="1826523" y="0"/>
                </a:lnTo>
                <a:lnTo>
                  <a:pt x="1826523" y="327422"/>
                </a:lnTo>
                <a:lnTo>
                  <a:pt x="0" y="3274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376661" y="1626978"/>
            <a:ext cx="312260" cy="31226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203200" y="-19050"/>
              <a:ext cx="406400" cy="730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67152" y="553479"/>
            <a:ext cx="5913472" cy="315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9">
                <a:solidFill>
                  <a:srgbClr val="434343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Process flow/Workflow diagram or Use-case diagram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-1294253" y="931377"/>
            <a:ext cx="8055843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 b="true">
                <a:solidFill>
                  <a:srgbClr val="43434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End-to-End Pipeline process is being used here: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268156" y="1315193"/>
            <a:ext cx="574136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true">
                <a:solidFill>
                  <a:srgbClr val="43434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Drone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585907" y="1967813"/>
            <a:ext cx="1972185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true">
                <a:solidFill>
                  <a:srgbClr val="43434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Thermal/RGB Stream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787928" y="2647950"/>
            <a:ext cx="1489727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true">
                <a:solidFill>
                  <a:srgbClr val="43434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YOLO Detection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4376661" y="2282138"/>
            <a:ext cx="312260" cy="312260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203200" y="-19050"/>
              <a:ext cx="406400" cy="730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4376661" y="2962275"/>
            <a:ext cx="312260" cy="312260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203200" y="-19050"/>
              <a:ext cx="406400" cy="730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3765968" y="3341210"/>
            <a:ext cx="1559464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true">
                <a:solidFill>
                  <a:srgbClr val="43434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LSTM Movement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4376661" y="3703160"/>
            <a:ext cx="312260" cy="312260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203200" y="-19050"/>
              <a:ext cx="406400" cy="730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4268156" y="4082095"/>
            <a:ext cx="494194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 b="true">
                <a:solidFill>
                  <a:srgbClr val="43434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Alert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8829" y="855221"/>
            <a:ext cx="8784298" cy="1128303"/>
          </a:xfrm>
          <a:custGeom>
            <a:avLst/>
            <a:gdLst/>
            <a:ahLst/>
            <a:cxnLst/>
            <a:rect r="r" b="b" t="t" l="l"/>
            <a:pathLst>
              <a:path h="1128303" w="8784298">
                <a:moveTo>
                  <a:pt x="0" y="0"/>
                </a:moveTo>
                <a:lnTo>
                  <a:pt x="8784298" y="0"/>
                </a:lnTo>
                <a:lnTo>
                  <a:pt x="8784298" y="1128303"/>
                </a:lnTo>
                <a:lnTo>
                  <a:pt x="0" y="11283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9801" y="174174"/>
            <a:ext cx="1826524" cy="327422"/>
          </a:xfrm>
          <a:custGeom>
            <a:avLst/>
            <a:gdLst/>
            <a:ahLst/>
            <a:cxnLst/>
            <a:rect r="r" b="b" t="t" l="l"/>
            <a:pathLst>
              <a:path h="327422" w="1826524">
                <a:moveTo>
                  <a:pt x="0" y="0"/>
                </a:moveTo>
                <a:lnTo>
                  <a:pt x="1826523" y="0"/>
                </a:lnTo>
                <a:lnTo>
                  <a:pt x="1826523" y="327422"/>
                </a:lnTo>
                <a:lnTo>
                  <a:pt x="0" y="3274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9801" y="174174"/>
            <a:ext cx="1826524" cy="327422"/>
          </a:xfrm>
          <a:custGeom>
            <a:avLst/>
            <a:gdLst/>
            <a:ahLst/>
            <a:cxnLst/>
            <a:rect r="r" b="b" t="t" l="l"/>
            <a:pathLst>
              <a:path h="327422" w="1826524">
                <a:moveTo>
                  <a:pt x="0" y="0"/>
                </a:moveTo>
                <a:lnTo>
                  <a:pt x="1826523" y="0"/>
                </a:lnTo>
                <a:lnTo>
                  <a:pt x="1826523" y="327422"/>
                </a:lnTo>
                <a:lnTo>
                  <a:pt x="0" y="3274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73038" y="1075325"/>
            <a:ext cx="4572733" cy="315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9">
                <a:solidFill>
                  <a:srgbClr val="434343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Google Technologies used in the solution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20638" y="1478915"/>
            <a:ext cx="5863743" cy="1092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b="true" sz="1599">
                <a:solidFill>
                  <a:srgbClr val="43434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TensorFlow/YOLOv8: Object detection (person/vehicle) </a:t>
            </a:r>
          </a:p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b="true" sz="1599">
                <a:solidFill>
                  <a:srgbClr val="43434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TensorFlow Lite: Edge deployment on drone</a:t>
            </a:r>
          </a:p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b="true" sz="1599">
                <a:solidFill>
                  <a:srgbClr val="43434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Google Colab: MVP training + demo</a:t>
            </a:r>
          </a:p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b="true" sz="1599">
                <a:solidFill>
                  <a:srgbClr val="43434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Google Cloud: Alert dashboard hosting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9801" y="174174"/>
            <a:ext cx="1826524" cy="327422"/>
          </a:xfrm>
          <a:custGeom>
            <a:avLst/>
            <a:gdLst/>
            <a:ahLst/>
            <a:cxnLst/>
            <a:rect r="r" b="b" t="t" l="l"/>
            <a:pathLst>
              <a:path h="327422" w="1826524">
                <a:moveTo>
                  <a:pt x="0" y="0"/>
                </a:moveTo>
                <a:lnTo>
                  <a:pt x="1826523" y="0"/>
                </a:lnTo>
                <a:lnTo>
                  <a:pt x="1826523" y="327422"/>
                </a:lnTo>
                <a:lnTo>
                  <a:pt x="0" y="3274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19904" y="855221"/>
            <a:ext cx="8723100" cy="598799"/>
          </a:xfrm>
          <a:custGeom>
            <a:avLst/>
            <a:gdLst/>
            <a:ahLst/>
            <a:cxnLst/>
            <a:rect r="r" b="b" t="t" l="l"/>
            <a:pathLst>
              <a:path h="598799" w="8723100">
                <a:moveTo>
                  <a:pt x="0" y="0"/>
                </a:moveTo>
                <a:lnTo>
                  <a:pt x="8723099" y="0"/>
                </a:lnTo>
                <a:lnTo>
                  <a:pt x="8723099" y="598799"/>
                </a:lnTo>
                <a:lnTo>
                  <a:pt x="0" y="5987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9801" y="174174"/>
            <a:ext cx="1826524" cy="327422"/>
          </a:xfrm>
          <a:custGeom>
            <a:avLst/>
            <a:gdLst/>
            <a:ahLst/>
            <a:cxnLst/>
            <a:rect r="r" b="b" t="t" l="l"/>
            <a:pathLst>
              <a:path h="327422" w="1826524">
                <a:moveTo>
                  <a:pt x="0" y="0"/>
                </a:moveTo>
                <a:lnTo>
                  <a:pt x="1826523" y="0"/>
                </a:lnTo>
                <a:lnTo>
                  <a:pt x="1826523" y="327422"/>
                </a:lnTo>
                <a:lnTo>
                  <a:pt x="0" y="3274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626017" y="3451686"/>
            <a:ext cx="1484358" cy="1644189"/>
          </a:xfrm>
          <a:custGeom>
            <a:avLst/>
            <a:gdLst/>
            <a:ahLst/>
            <a:cxnLst/>
            <a:rect r="r" b="b" t="t" l="l"/>
            <a:pathLst>
              <a:path h="1644189" w="1484358">
                <a:moveTo>
                  <a:pt x="0" y="0"/>
                </a:moveTo>
                <a:lnTo>
                  <a:pt x="1484358" y="0"/>
                </a:lnTo>
                <a:lnTo>
                  <a:pt x="1484358" y="1644189"/>
                </a:lnTo>
                <a:lnTo>
                  <a:pt x="0" y="164418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8298" r="0" b="-92321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230836" y="514350"/>
            <a:ext cx="1430316" cy="2501116"/>
          </a:xfrm>
          <a:custGeom>
            <a:avLst/>
            <a:gdLst/>
            <a:ahLst/>
            <a:cxnLst/>
            <a:rect r="r" b="b" t="t" l="l"/>
            <a:pathLst>
              <a:path h="2501116" w="1430316">
                <a:moveTo>
                  <a:pt x="0" y="0"/>
                </a:moveTo>
                <a:lnTo>
                  <a:pt x="1430316" y="0"/>
                </a:lnTo>
                <a:lnTo>
                  <a:pt x="1430316" y="2501116"/>
                </a:lnTo>
                <a:lnTo>
                  <a:pt x="0" y="250111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6881" r="0" b="-20201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566627" y="514350"/>
            <a:ext cx="1497123" cy="2501116"/>
          </a:xfrm>
          <a:custGeom>
            <a:avLst/>
            <a:gdLst/>
            <a:ahLst/>
            <a:cxnLst/>
            <a:rect r="r" b="b" t="t" l="l"/>
            <a:pathLst>
              <a:path h="2501116" w="1497123">
                <a:moveTo>
                  <a:pt x="0" y="0"/>
                </a:moveTo>
                <a:lnTo>
                  <a:pt x="1497123" y="0"/>
                </a:lnTo>
                <a:lnTo>
                  <a:pt x="1497123" y="2501116"/>
                </a:lnTo>
                <a:lnTo>
                  <a:pt x="0" y="250111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19178" r="-323" b="-1427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502857" y="161139"/>
            <a:ext cx="2435952" cy="315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9">
                <a:solidFill>
                  <a:srgbClr val="434343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Snapshots of the MVP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307036" y="3995170"/>
            <a:ext cx="2262103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 b="true">
                <a:solidFill>
                  <a:srgbClr val="43434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output of the program: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121223" y="1595998"/>
            <a:ext cx="2646345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39"/>
              </a:lnSpc>
            </a:pPr>
            <a:r>
              <a:rPr lang="en-US" sz="1599" b="true">
                <a:solidFill>
                  <a:srgbClr val="43434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thermal Imaging result: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12287" y="1618541"/>
            <a:ext cx="1770374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 b="true">
                <a:solidFill>
                  <a:srgbClr val="43434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Alert &amp;Detection :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9947" y="781898"/>
            <a:ext cx="8894102" cy="696297"/>
          </a:xfrm>
          <a:custGeom>
            <a:avLst/>
            <a:gdLst/>
            <a:ahLst/>
            <a:cxnLst/>
            <a:rect r="r" b="b" t="t" l="l"/>
            <a:pathLst>
              <a:path h="696297" w="8894102">
                <a:moveTo>
                  <a:pt x="0" y="0"/>
                </a:moveTo>
                <a:lnTo>
                  <a:pt x="8894102" y="0"/>
                </a:lnTo>
                <a:lnTo>
                  <a:pt x="8894102" y="696296"/>
                </a:lnTo>
                <a:lnTo>
                  <a:pt x="0" y="6962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9801" y="174174"/>
            <a:ext cx="1826524" cy="327422"/>
          </a:xfrm>
          <a:custGeom>
            <a:avLst/>
            <a:gdLst/>
            <a:ahLst/>
            <a:cxnLst/>
            <a:rect r="r" b="b" t="t" l="l"/>
            <a:pathLst>
              <a:path h="327422" w="1826524">
                <a:moveTo>
                  <a:pt x="0" y="0"/>
                </a:moveTo>
                <a:lnTo>
                  <a:pt x="1826523" y="0"/>
                </a:lnTo>
                <a:lnTo>
                  <a:pt x="1826523" y="327422"/>
                </a:lnTo>
                <a:lnTo>
                  <a:pt x="0" y="3274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9801" y="174174"/>
            <a:ext cx="1826524" cy="327422"/>
          </a:xfrm>
          <a:custGeom>
            <a:avLst/>
            <a:gdLst/>
            <a:ahLst/>
            <a:cxnLst/>
            <a:rect r="r" b="b" t="t" l="l"/>
            <a:pathLst>
              <a:path h="327422" w="1826524">
                <a:moveTo>
                  <a:pt x="0" y="0"/>
                </a:moveTo>
                <a:lnTo>
                  <a:pt x="1826523" y="0"/>
                </a:lnTo>
                <a:lnTo>
                  <a:pt x="1826523" y="327422"/>
                </a:lnTo>
                <a:lnTo>
                  <a:pt x="0" y="3274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14350" y="781898"/>
            <a:ext cx="5171523" cy="551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9">
                <a:solidFill>
                  <a:srgbClr val="434343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Feasibility of the Solution &amp; Additional Details/Future Development (if any)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47675" y="1421044"/>
            <a:ext cx="8453963" cy="2407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1243" indent="-210622" lvl="1">
              <a:lnSpc>
                <a:spcPts val="2731"/>
              </a:lnSpc>
              <a:buFont typeface="Arial"/>
              <a:buChar char="•"/>
            </a:pPr>
            <a:r>
              <a:rPr lang="en-US" sz="1951">
                <a:solidFill>
                  <a:srgbClr val="434343"/>
                </a:solidFill>
                <a:latin typeface="Arimo"/>
                <a:ea typeface="Arimo"/>
                <a:cs typeface="Arimo"/>
                <a:sym typeface="Arimo"/>
              </a:rPr>
              <a:t>Currently We'r</a:t>
            </a:r>
            <a:r>
              <a:rPr lang="en-US" sz="1951">
                <a:solidFill>
                  <a:srgbClr val="434343"/>
                </a:solidFill>
                <a:latin typeface="Arimo"/>
                <a:ea typeface="Arimo"/>
                <a:cs typeface="Arimo"/>
                <a:sym typeface="Arimo"/>
              </a:rPr>
              <a:t>e working on a project with drones and thermal imaging. our MVP uses QPython3 on mobile, achieving 95% accuracy with the FLIR datase</a:t>
            </a:r>
          </a:p>
          <a:p>
            <a:pPr algn="l" marL="421243" indent="-210622" lvl="1">
              <a:lnSpc>
                <a:spcPts val="2731"/>
              </a:lnSpc>
              <a:buFont typeface="Arial"/>
              <a:buChar char="•"/>
            </a:pPr>
            <a:r>
              <a:rPr lang="en-US" sz="1951">
                <a:solidFill>
                  <a:srgbClr val="434343"/>
                </a:solidFill>
                <a:latin typeface="Arimo"/>
                <a:ea typeface="Arimo"/>
                <a:cs typeface="Arimo"/>
                <a:sym typeface="Arimo"/>
              </a:rPr>
              <a:t>Phase 2, you plan to add multi-drone swarm coordination.</a:t>
            </a:r>
          </a:p>
          <a:p>
            <a:pPr algn="l" marL="421243" indent="-210622" lvl="1">
              <a:lnSpc>
                <a:spcPts val="2731"/>
              </a:lnSpc>
              <a:buFont typeface="Arial"/>
              <a:buChar char="•"/>
            </a:pPr>
            <a:r>
              <a:rPr lang="en-US" sz="1951">
                <a:solidFill>
                  <a:srgbClr val="434343"/>
                </a:solidFill>
                <a:latin typeface="Arimo"/>
                <a:ea typeface="Arimo"/>
                <a:cs typeface="Arimo"/>
                <a:sym typeface="Arimo"/>
              </a:rPr>
              <a:t>Phase 3 involves a satellite handoff for wide-area coverage. Your solution costs ₹2.5 lakh versus the ₹1 crore needed for traditional towers. This could impact sectors using thermal imaging and remote monitoring.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6599" y="843001"/>
            <a:ext cx="8833199" cy="1956597"/>
          </a:xfrm>
          <a:custGeom>
            <a:avLst/>
            <a:gdLst/>
            <a:ahLst/>
            <a:cxnLst/>
            <a:rect r="r" b="b" t="t" l="l"/>
            <a:pathLst>
              <a:path h="1956597" w="8833199">
                <a:moveTo>
                  <a:pt x="0" y="0"/>
                </a:moveTo>
                <a:lnTo>
                  <a:pt x="8833200" y="0"/>
                </a:lnTo>
                <a:lnTo>
                  <a:pt x="8833200" y="1956597"/>
                </a:lnTo>
                <a:lnTo>
                  <a:pt x="0" y="19565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9801" y="174174"/>
            <a:ext cx="1826524" cy="327422"/>
          </a:xfrm>
          <a:custGeom>
            <a:avLst/>
            <a:gdLst/>
            <a:ahLst/>
            <a:cxnLst/>
            <a:rect r="r" b="b" t="t" l="l"/>
            <a:pathLst>
              <a:path h="327422" w="1826524">
                <a:moveTo>
                  <a:pt x="0" y="0"/>
                </a:moveTo>
                <a:lnTo>
                  <a:pt x="1826523" y="0"/>
                </a:lnTo>
                <a:lnTo>
                  <a:pt x="1826523" y="327422"/>
                </a:lnTo>
                <a:lnTo>
                  <a:pt x="0" y="3274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9801" y="174174"/>
            <a:ext cx="1826524" cy="327422"/>
          </a:xfrm>
          <a:custGeom>
            <a:avLst/>
            <a:gdLst/>
            <a:ahLst/>
            <a:cxnLst/>
            <a:rect r="r" b="b" t="t" l="l"/>
            <a:pathLst>
              <a:path h="327422" w="1826524">
                <a:moveTo>
                  <a:pt x="0" y="0"/>
                </a:moveTo>
                <a:lnTo>
                  <a:pt x="1826523" y="0"/>
                </a:lnTo>
                <a:lnTo>
                  <a:pt x="1826523" y="327422"/>
                </a:lnTo>
                <a:lnTo>
                  <a:pt x="0" y="3274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32324" y="1101204"/>
            <a:ext cx="2328691" cy="277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9">
                <a:solidFill>
                  <a:srgbClr val="434343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Provide links to your: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53355" y="1649844"/>
            <a:ext cx="211722" cy="1100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9">
                <a:solidFill>
                  <a:srgbClr val="434343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1. 2. 3. 4.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89524" y="1649844"/>
            <a:ext cx="3174168" cy="1100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9">
                <a:solidFill>
                  <a:srgbClr val="434343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GitHub Public Repository Demo Video Link (3 Minutes) MVP Link Research &amp; References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540106" y="1639176"/>
            <a:ext cx="5439693" cy="230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3"/>
              </a:lnSpc>
            </a:pPr>
            <a:r>
              <a:rPr lang="en-US" sz="1309">
                <a:solidFill>
                  <a:srgbClr val="1800AD"/>
                </a:solidFill>
                <a:latin typeface="Canva Sans"/>
                <a:ea typeface="Canva Sans"/>
                <a:cs typeface="Canva Sans"/>
                <a:sym typeface="Canva Sans"/>
              </a:rPr>
              <a:t>https://github.com/bhoomitrasharma7/Aagni_border_surveillance.git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26440" y="3152023"/>
            <a:ext cx="4417304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1800AD"/>
                </a:solidFill>
                <a:latin typeface="Canva Sans"/>
                <a:ea typeface="Canva Sans"/>
                <a:cs typeface="Canva Sans"/>
                <a:sym typeface="Canva Sans"/>
              </a:rPr>
              <a:t>https://ieeexplore.ieee.org/document/10293139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04342" y="3685423"/>
            <a:ext cx="8527831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1800AD"/>
                </a:solidFill>
                <a:latin typeface="Canva Sans"/>
                <a:ea typeface="Canva Sans"/>
                <a:cs typeface="Canva Sans"/>
                <a:sym typeface="Canva Sans"/>
              </a:rPr>
              <a:t>https://ijsret.com/wp-content/uploads/2024/07/IJSRET_V10_issue4_362.pdf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52975" y="2902739"/>
            <a:ext cx="4307611" cy="231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2"/>
              </a:lnSpc>
            </a:pPr>
            <a:r>
              <a:rPr lang="en-US" sz="138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"Human Detection in Thermal Images Using YOLOv: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52975" y="3442217"/>
            <a:ext cx="5337317" cy="462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9"/>
              </a:lnSpc>
            </a:pPr>
            <a:r>
              <a:rPr lang="en-US" sz="1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"AI-Powered Video Analytics for Border Surveillance Using Drones" </a:t>
            </a:r>
          </a:p>
          <a:p>
            <a:pPr algn="ctr">
              <a:lnSpc>
                <a:spcPts val="1819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503" y="-63503"/>
            <a:ext cx="9270997" cy="5270497"/>
          </a:xfrm>
          <a:custGeom>
            <a:avLst/>
            <a:gdLst/>
            <a:ahLst/>
            <a:cxnLst/>
            <a:rect r="r" b="b" t="t" l="l"/>
            <a:pathLst>
              <a:path h="5270497" w="9270997">
                <a:moveTo>
                  <a:pt x="0" y="0"/>
                </a:moveTo>
                <a:lnTo>
                  <a:pt x="9270997" y="0"/>
                </a:lnTo>
                <a:lnTo>
                  <a:pt x="9270997" y="5270497"/>
                </a:lnTo>
                <a:lnTo>
                  <a:pt x="0" y="52704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9144000" cy="5143500"/>
          </a:xfrm>
          <a:custGeom>
            <a:avLst/>
            <a:gdLst/>
            <a:ahLst/>
            <a:cxnLst/>
            <a:rect r="r" b="b" t="t" l="l"/>
            <a:pathLst>
              <a:path h="5143500" w="91440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43271" y="3962952"/>
            <a:ext cx="3712797" cy="939003"/>
          </a:xfrm>
          <a:custGeom>
            <a:avLst/>
            <a:gdLst/>
            <a:ahLst/>
            <a:cxnLst/>
            <a:rect r="r" b="b" t="t" l="l"/>
            <a:pathLst>
              <a:path h="939003" w="3712797">
                <a:moveTo>
                  <a:pt x="0" y="0"/>
                </a:moveTo>
                <a:lnTo>
                  <a:pt x="3712798" y="0"/>
                </a:lnTo>
                <a:lnTo>
                  <a:pt x="3712798" y="939004"/>
                </a:lnTo>
                <a:lnTo>
                  <a:pt x="0" y="93900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28996" y="4432478"/>
            <a:ext cx="3282267" cy="840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59"/>
              </a:lnSpc>
            </a:pPr>
            <a:r>
              <a:rPr lang="en-US" b="true" sz="4900" spc="24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DAG9GSWXdvU</dc:identifier>
  <dcterms:modified xsi:type="dcterms:W3CDTF">2011-08-01T06:04:30Z</dcterms:modified>
  <cp:revision>1</cp:revision>
  <dc:title>GDGoC-Agra- TechSprint PPT Submission Template (1).pdf</dc:title>
</cp:coreProperties>
</file>